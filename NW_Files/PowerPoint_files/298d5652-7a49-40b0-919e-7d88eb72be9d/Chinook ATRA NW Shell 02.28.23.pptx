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5"/>
  </p:notesMasterIdLst>
  <p:sldIdLst>
    <p:sldId id="258" r:id="rId2"/>
    <p:sldId id="13878" r:id="rId3"/>
    <p:sldId id="13888" r:id="rId4"/>
    <p:sldId id="13879" r:id="rId5"/>
    <p:sldId id="13889" r:id="rId6"/>
    <p:sldId id="13890" r:id="rId7"/>
    <p:sldId id="13891" r:id="rId8"/>
    <p:sldId id="13971" r:id="rId9"/>
    <p:sldId id="13973" r:id="rId10"/>
    <p:sldId id="13974" r:id="rId11"/>
    <p:sldId id="13975" r:id="rId12"/>
    <p:sldId id="13875" r:id="rId13"/>
    <p:sldId id="1388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" userDrawn="1">
          <p15:clr>
            <a:srgbClr val="A4A3A4"/>
          </p15:clr>
        </p15:guide>
        <p15:guide id="7" orient="horz" pos="3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reline Amilhat" initials="LA" lastIdx="92" clrIdx="0">
    <p:extLst>
      <p:ext uri="{19B8F6BF-5375-455C-9EA6-DF929625EA0E}">
        <p15:presenceInfo xmlns:p15="http://schemas.microsoft.com/office/powerpoint/2012/main" userId="S-1-5-21-1638344994-1316056895-1233803906-566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260"/>
    <a:srgbClr val="1D3D7C"/>
    <a:srgbClr val="232645"/>
    <a:srgbClr val="192249"/>
    <a:srgbClr val="41374A"/>
    <a:srgbClr val="F8CBAD"/>
    <a:srgbClr val="44546A"/>
    <a:srgbClr val="B35528"/>
    <a:srgbClr val="062E8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3" autoAdjust="0"/>
    <p:restoredTop sz="87007" autoAdjust="0"/>
  </p:normalViewPr>
  <p:slideViewPr>
    <p:cSldViewPr snapToGrid="0" snapToObjects="1">
      <p:cViewPr varScale="1">
        <p:scale>
          <a:sx n="58" d="100"/>
          <a:sy n="58" d="100"/>
        </p:scale>
        <p:origin x="34" y="158"/>
      </p:cViewPr>
      <p:guideLst>
        <p:guide pos="72"/>
        <p:guide orient="horz"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49C2E-648B-BB4B-8C08-E10F922404B1}" type="datetimeFigureOut">
              <a:rPr lang="en-US" smtClean="0"/>
              <a:t>3/3/2023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7BB4D-44F7-9D4C-9995-4A418327FE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1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29614-7C2C-4966-8079-027C4BCB98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579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7BB4D-44F7-9D4C-9995-4A418327FE4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474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A68D6709-A8CC-4C6C-9390-B616E377A5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087915F0-BF0F-477A-A6BB-C32C9B198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51E0FDE-8665-4F50-8A31-B5F7E51E08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E9A3F6-BE20-4FA2-B36A-F3D6F2B61A7A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A68D6709-A8CC-4C6C-9390-B616E377A5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087915F0-BF0F-477A-A6BB-C32C9B198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51E0FDE-8665-4F50-8A31-B5F7E51E08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E9A3F6-BE20-4FA2-B36A-F3D6F2B61A7A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9832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A68D6709-A8CC-4C6C-9390-B616E377A5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087915F0-BF0F-477A-A6BB-C32C9B198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51E0FDE-8665-4F50-8A31-B5F7E51E08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DE9A3F6-BE20-4FA2-B36A-F3D6F2B61A7A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2238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C6D1F98A-1C70-4A8B-8AA2-7B8B96EEF1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A4E6556-CFC9-47A0-BE55-8A217960D1B5}" type="slidenum"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3E3D6B9-B5EC-45F2-A118-9BD978163F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AC6021F-3451-4BF7-A5EC-7F05E2045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6CAEA2-DB41-4C2D-AB37-29642BD9A79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434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29614-7C2C-4966-8079-027C4BCB985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7132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22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tiff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tiff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E1571E0-F6B1-5005-8EE1-8488CC3C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rgbClr val="1D3D7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1500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8950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13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068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53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122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6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61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399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5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F67CEA-8717-DB43-89A8-49B4F2DDF1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4804"/>
            <a:ext cx="9144000" cy="319087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2329929"/>
            <a:ext cx="8308623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6619461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6477005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7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F67CEA-8717-DB43-89A8-49B4F2DDF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218808" y="2218806"/>
            <a:ext cx="6858004" cy="242038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539" y="0"/>
            <a:ext cx="6291225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53BDAF1-B7B6-E741-97E6-A61405BAC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4661" y="944217"/>
            <a:ext cx="6301410" cy="5506279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65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891891"/>
            <a:ext cx="38683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715802"/>
            <a:ext cx="3868340" cy="4242235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891891"/>
            <a:ext cx="3887391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715802"/>
            <a:ext cx="3887391" cy="4242235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E500351-87A4-4AE9-A00B-B70CA1235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406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9197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943276"/>
            <a:ext cx="8757012" cy="503401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94339E-EB3B-4DF3-9A04-AEA814C91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126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5BEDF69-29D1-4926-8FAF-8F78C7451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3564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5421" y="613050"/>
            <a:ext cx="8873159" cy="54001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F2DF84-5168-4E88-900D-6113DD5E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156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24D6B5-5F41-4F3D-A77B-5F58A37F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92083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F67CEA-8717-DB43-89A8-49B4F2DDF1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4804"/>
            <a:ext cx="9144000" cy="319087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89" y="2329929"/>
            <a:ext cx="8308623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6619461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6477005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18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F67CEA-8717-DB43-89A8-49B4F2DDF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218808" y="2218806"/>
            <a:ext cx="6858004" cy="242038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539" y="0"/>
            <a:ext cx="6291225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53BDAF1-B7B6-E741-97E6-A61405BAC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4661" y="944217"/>
            <a:ext cx="6301410" cy="5506279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44863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891891"/>
            <a:ext cx="386834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715802"/>
            <a:ext cx="3868340" cy="4242235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891891"/>
            <a:ext cx="3887391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715802"/>
            <a:ext cx="3887391" cy="4242235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E500351-87A4-4AE9-A00B-B70CA1235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12632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3924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0" y="1"/>
            <a:ext cx="9144000" cy="992208"/>
          </a:xfrm>
          <a:prstGeom prst="rect">
            <a:avLst/>
          </a:prstGeom>
        </p:spPr>
      </p:pic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</p:spTree>
    <p:extLst>
      <p:ext uri="{BB962C8B-B14F-4D97-AF65-F5344CB8AC3E}">
        <p14:creationId xmlns:p14="http://schemas.microsoft.com/office/powerpoint/2010/main" val="390639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673" r:id="rId11"/>
    <p:sldLayoutId id="2147483674" r:id="rId12"/>
    <p:sldLayoutId id="2147483679" r:id="rId13"/>
    <p:sldLayoutId id="2147483681" r:id="rId14"/>
    <p:sldLayoutId id="2147483662" r:id="rId15"/>
    <p:sldLayoutId id="2147483666" r:id="rId16"/>
    <p:sldLayoutId id="2147483670" r:id="rId17"/>
    <p:sldLayoutId id="2147483672" r:id="rId18"/>
    <p:sldLayoutId id="2147483683" r:id="rId19"/>
    <p:sldLayoutId id="2147483684" r:id="rId20"/>
    <p:sldLayoutId id="2147483689" r:id="rId21"/>
    <p:sldLayoutId id="2147483691" r:id="rId22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ckilroy@brandinstitute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403684-B512-C147-BD66-F1606E127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329929"/>
            <a:ext cx="3861864" cy="1618878"/>
          </a:xfrm>
        </p:spPr>
        <p:txBody>
          <a:bodyPr/>
          <a:lstStyle/>
          <a:p>
            <a:r>
              <a:rPr lang="en-US" sz="3200" dirty="0"/>
              <a:t>NOMENCLATURE WORKSHOP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C2A75E-2133-E748-B3B6-CA4573E28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064" y="2553704"/>
            <a:ext cx="743021" cy="1092016"/>
          </a:xfrm>
          <a:prstGeom prst="rect">
            <a:avLst/>
          </a:prstGeom>
        </p:spPr>
      </p:pic>
      <p:pic>
        <p:nvPicPr>
          <p:cNvPr id="1028" name="Picture 4" descr="Chinook Therapeutics | Atrasentan | Kidney Disease Medicines">
            <a:extLst>
              <a:ext uri="{FF2B5EF4-FFF2-40B4-BE49-F238E27FC236}">
                <a16:creationId xmlns:a16="http://schemas.microsoft.com/office/drawing/2014/main" id="{CE789E3F-D338-7451-61CF-ADBB2A6F7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87" y="434124"/>
            <a:ext cx="3998913" cy="68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F278C0FB-980D-11C8-C3F5-95E9C2E79474}"/>
              </a:ext>
            </a:extLst>
          </p:cNvPr>
          <p:cNvSpPr txBox="1">
            <a:spLocks/>
          </p:cNvSpPr>
          <p:nvPr/>
        </p:nvSpPr>
        <p:spPr>
          <a:xfrm>
            <a:off x="-1" y="4748973"/>
            <a:ext cx="9143999" cy="681146"/>
          </a:xfrm>
          <a:prstGeom prst="rect">
            <a:avLst/>
          </a:prstGeom>
        </p:spPr>
        <p:txBody>
          <a:bodyPr anchor="ctr"/>
          <a:lstStyle>
            <a:lvl1pPr marL="228600" indent="-2286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1E3D7D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1E3D7D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1E3D7D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1E3D7D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1E3D7D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1D3D7C"/>
                </a:solidFill>
                <a:cs typeface="Calibri" panose="020F0502020204030204" pitchFamily="34" charset="0"/>
              </a:rPr>
              <a:t>PROJECT</a:t>
            </a:r>
            <a:r>
              <a:rPr lang="en-US" sz="2400" b="1" dirty="0">
                <a:solidFill>
                  <a:srgbClr val="1D3D7C"/>
                </a:solidFill>
              </a:rPr>
              <a:t> ATRA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17313C-0212-164F-3A6B-1881F3D75145}"/>
              </a:ext>
            </a:extLst>
          </p:cNvPr>
          <p:cNvSpPr/>
          <p:nvPr/>
        </p:nvSpPr>
        <p:spPr>
          <a:xfrm>
            <a:off x="3728953" y="5352425"/>
            <a:ext cx="16861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March 6,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2023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9D0F3-3EA1-3053-FA9E-EE03905A8C10}"/>
              </a:ext>
            </a:extLst>
          </p:cNvPr>
          <p:cNvSpPr txBox="1"/>
          <p:nvPr/>
        </p:nvSpPr>
        <p:spPr>
          <a:xfrm>
            <a:off x="0" y="605419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BASEL     BOSTON     CHARLOTTE     CHICAGO     DALLAS     FRANKFURT     LONDON     LOS ANGELES     MIAMI     MONTRÉAL     MUMBAI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74F83-A689-78C6-B948-91C6BC84EA04}"/>
              </a:ext>
            </a:extLst>
          </p:cNvPr>
          <p:cNvSpPr txBox="1"/>
          <p:nvPr/>
        </p:nvSpPr>
        <p:spPr>
          <a:xfrm>
            <a:off x="0" y="6439094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713232">
              <a:defRPr/>
            </a:pPr>
            <a:r>
              <a:rPr lang="en-US" sz="1200" dirty="0">
                <a:solidFill>
                  <a:srgbClr val="FFFFFF">
                    <a:lumMod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YORK     OTTAWA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ROCKVILLE     SAN FRANCISCO     SAN JUAN     SÃO PAULO     SEOUL     TOKYO     TORONTO</a:t>
            </a:r>
          </a:p>
        </p:txBody>
      </p:sp>
    </p:spTree>
    <p:extLst>
      <p:ext uri="{BB962C8B-B14F-4D97-AF65-F5344CB8AC3E}">
        <p14:creationId xmlns:p14="http://schemas.microsoft.com/office/powerpoint/2010/main" val="267644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E8A6-B5F6-2944-BE27-8740FE23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9C788-BCFA-49FA-96DB-93742FDC6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Introduction</a:t>
            </a:r>
          </a:p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Meeting Objectives</a:t>
            </a:r>
          </a:p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Name Development Process</a:t>
            </a:r>
          </a:p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Topline Creative Direction</a:t>
            </a:r>
          </a:p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ATRA Naming Direction</a:t>
            </a:r>
          </a:p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ATRA Conflicts Snapshot</a:t>
            </a:r>
          </a:p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Name Candidate Evaluation</a:t>
            </a:r>
          </a:p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Q &amp; A - Discuss Next Steps</a:t>
            </a:r>
          </a:p>
          <a:p>
            <a:pPr marL="227013" indent="-227013">
              <a:spcBef>
                <a:spcPct val="50000"/>
              </a:spcBef>
              <a:buClr>
                <a:srgbClr val="003399"/>
              </a:buClr>
              <a:defRPr/>
            </a:pPr>
            <a:r>
              <a:rPr lang="en-US" altLang="en-US" dirty="0">
                <a:solidFill>
                  <a:srgbClr val="000000"/>
                </a:solidFill>
                <a:latin typeface="Calibri" panose="020F0502020204030204"/>
              </a:rPr>
              <a:t>Project Timeline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87168-3428-A698-CC29-D68684C86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579" y="1429623"/>
            <a:ext cx="4973923" cy="421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9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EA9F3-0E60-A544-85E9-7355FAAE8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21" y="952260"/>
            <a:ext cx="8873159" cy="5400123"/>
          </a:xfrm>
        </p:spPr>
        <p:txBody>
          <a:bodyPr/>
          <a:lstStyle/>
          <a:p>
            <a:pPr marL="0" indent="0" algn="l">
              <a:buNone/>
              <a:defRPr/>
            </a:pPr>
            <a:r>
              <a:rPr lang="en-US" dirty="0"/>
              <a:t>Brand Institute is pleased to work with Chinook Therapeutics on the brand/proprietary name development for </a:t>
            </a:r>
            <a:r>
              <a:rPr lang="en-US" dirty="0" err="1"/>
              <a:t>atrasentan</a:t>
            </a:r>
            <a:r>
              <a:rPr lang="en-US" dirty="0"/>
              <a:t>, under development for the treatment of:</a:t>
            </a:r>
          </a:p>
          <a:p>
            <a:pPr marL="684213" lvl="1" indent="-227013" algn="l">
              <a:spcBef>
                <a:spcPct val="50000"/>
              </a:spcBef>
              <a:buClr>
                <a:srgbClr val="003399"/>
              </a:buClr>
              <a:buFont typeface="Wingdings" pitchFamily="2" charset="2"/>
              <a:buChar char="§"/>
              <a:defRPr/>
            </a:pPr>
            <a:r>
              <a:rPr lang="en-US" dirty="0"/>
              <a:t>IgA nephropathy</a:t>
            </a:r>
          </a:p>
          <a:p>
            <a:pPr marL="684213" lvl="1" indent="-227013" algn="l">
              <a:spcBef>
                <a:spcPct val="50000"/>
              </a:spcBef>
              <a:buClr>
                <a:srgbClr val="003399"/>
              </a:buClr>
              <a:buFont typeface="Wingdings" pitchFamily="2" charset="2"/>
              <a:buChar char="§"/>
              <a:defRPr/>
            </a:pPr>
            <a:r>
              <a:rPr lang="en-US" dirty="0" err="1"/>
              <a:t>Proteinuric</a:t>
            </a:r>
            <a:r>
              <a:rPr lang="en-US" dirty="0"/>
              <a:t> glomerular disease</a:t>
            </a:r>
          </a:p>
          <a:p>
            <a:pPr marL="0" indent="0" algn="l">
              <a:buNone/>
              <a:defRPr/>
            </a:pPr>
            <a:endParaRPr lang="en-US" dirty="0">
              <a:solidFill>
                <a:srgbClr val="FF0000"/>
              </a:solidFill>
            </a:endParaRPr>
          </a:p>
          <a:p>
            <a:pPr marL="0" indent="0" algn="l">
              <a:buNone/>
              <a:defRPr/>
            </a:pPr>
            <a:r>
              <a:rPr lang="en-US" dirty="0"/>
              <a:t>This product will be marketed in the U.S., Europe, and Canada.</a:t>
            </a:r>
          </a:p>
          <a:p>
            <a:pPr marL="0" indent="0" algn="l">
              <a:buNone/>
              <a:defRPr/>
            </a:pPr>
            <a:endParaRPr lang="en-US" dirty="0"/>
          </a:p>
          <a:p>
            <a:pPr marL="0" indent="0" algn="l">
              <a:buNone/>
              <a:defRPr/>
            </a:pPr>
            <a:r>
              <a:rPr lang="en-US" dirty="0"/>
              <a:t>Brand Institute services will include Creative, Trademark Screening, Linguistics, Market &amp; Safety Research.</a:t>
            </a:r>
          </a:p>
          <a:p>
            <a:pPr marL="0" indent="0" algn="l">
              <a:buNone/>
              <a:defRPr/>
            </a:pPr>
            <a:endParaRPr lang="en-US" dirty="0"/>
          </a:p>
          <a:p>
            <a:pPr marL="0" indent="0" algn="l">
              <a:buNone/>
              <a:defRPr/>
            </a:pPr>
            <a:r>
              <a:rPr lang="en-US" dirty="0"/>
              <a:t>Brand names must be acceptable from legal, regulatory, commercial, and linguistics perspectives and should support the product’s points of differentiation through messaging and tonality.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68FCEE-D950-429B-AB65-9B423471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0281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45A1D8-5ADD-44AE-A12B-7707CE86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Meeting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8976-AB9E-FE42-B1C3-A8AF696E2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cs typeface="Arial" panose="020B0604020202020204" pitchFamily="34" charset="0"/>
              </a:rPr>
              <a:t>During this Nomenclature Workshop we will:</a:t>
            </a:r>
          </a:p>
          <a:p>
            <a:pPr marL="684213" lvl="1" indent="-227013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00"/>
                </a:solidFill>
              </a:rPr>
              <a:t>Review and discuss potential name candidates</a:t>
            </a:r>
          </a:p>
          <a:p>
            <a:pPr marL="684213" lvl="1" indent="-227013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00"/>
                </a:solidFill>
              </a:rPr>
              <a:t>Select name candidates that meet the branding objectives</a:t>
            </a:r>
          </a:p>
          <a:p>
            <a:pPr marL="684213" lvl="1" indent="-227013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00"/>
                </a:solidFill>
              </a:rPr>
              <a:t>Identify concepts, key words, imagery and messages to explore/avoid</a:t>
            </a:r>
          </a:p>
          <a:p>
            <a:pPr marL="684213" lvl="1" indent="-227013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00"/>
                </a:solidFill>
              </a:rPr>
              <a:t>Create new names based on names/concepts presented</a:t>
            </a:r>
          </a:p>
          <a:p>
            <a:pPr marL="684213" lvl="1" indent="-227013">
              <a:spcBef>
                <a:spcPct val="50000"/>
              </a:spcBef>
              <a:buClr>
                <a:srgbClr val="003399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000000"/>
                </a:solidFill>
              </a:rPr>
              <a:t>Discuss next 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533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E73B51-03D6-0448-98F5-31C06152B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119" y="1154192"/>
            <a:ext cx="4322668" cy="521591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67622E-10AA-A24F-A8F9-B0B2B21E4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Name Development Process | Overall Process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F278A-975B-814F-B625-0CD7C987D49F}"/>
              </a:ext>
            </a:extLst>
          </p:cNvPr>
          <p:cNvSpPr txBox="1"/>
          <p:nvPr/>
        </p:nvSpPr>
        <p:spPr>
          <a:xfrm>
            <a:off x="7334012" y="2011281"/>
            <a:ext cx="1304011" cy="52386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/>
              <a:t>1000+</a:t>
            </a:r>
          </a:p>
          <a:p>
            <a:r>
              <a:rPr lang="en-US" sz="1400" dirty="0"/>
              <a:t>Names Created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206EE-7D75-D84A-A75E-7FBB3325BC04}"/>
              </a:ext>
            </a:extLst>
          </p:cNvPr>
          <p:cNvSpPr txBox="1"/>
          <p:nvPr/>
        </p:nvSpPr>
        <p:spPr>
          <a:xfrm>
            <a:off x="7331581" y="2752780"/>
            <a:ext cx="1436483" cy="52386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/>
              <a:t>75</a:t>
            </a:r>
          </a:p>
          <a:p>
            <a:r>
              <a:rPr lang="en-US" sz="1400" dirty="0"/>
              <a:t>Names Reviewed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15AA0-42E8-F34B-BFF2-A8DA9C3125FD}"/>
              </a:ext>
            </a:extLst>
          </p:cNvPr>
          <p:cNvSpPr txBox="1"/>
          <p:nvPr/>
        </p:nvSpPr>
        <p:spPr>
          <a:xfrm>
            <a:off x="7331581" y="3492883"/>
            <a:ext cx="1445460" cy="52386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/>
              <a:t>50+</a:t>
            </a:r>
          </a:p>
          <a:p>
            <a:r>
              <a:rPr lang="en-US" sz="1400" dirty="0"/>
              <a:t>Names Screened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6561F-A5E1-044B-AC4E-DEF71ABF6F38}"/>
              </a:ext>
            </a:extLst>
          </p:cNvPr>
          <p:cNvSpPr txBox="1"/>
          <p:nvPr/>
        </p:nvSpPr>
        <p:spPr>
          <a:xfrm>
            <a:off x="7334012" y="4229678"/>
            <a:ext cx="1203535" cy="52386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/>
              <a:t>20</a:t>
            </a:r>
          </a:p>
          <a:p>
            <a:r>
              <a:rPr lang="en-US" sz="1400" dirty="0"/>
              <a:t>Names Tested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B353E-F778-B841-8248-FE7E8CFC27FE}"/>
              </a:ext>
            </a:extLst>
          </p:cNvPr>
          <p:cNvSpPr txBox="1"/>
          <p:nvPr/>
        </p:nvSpPr>
        <p:spPr>
          <a:xfrm>
            <a:off x="7307812" y="4800142"/>
            <a:ext cx="1831142" cy="80021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1" dirty="0"/>
              <a:t>6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–</a:t>
            </a:r>
            <a:r>
              <a:rPr lang="en-US" b="1" dirty="0"/>
              <a:t>8</a:t>
            </a:r>
          </a:p>
          <a:p>
            <a:r>
              <a:rPr lang="en-US" sz="1400" dirty="0"/>
              <a:t>Names Recommended</a:t>
            </a:r>
          </a:p>
          <a:p>
            <a:r>
              <a:rPr lang="en-US" sz="1400" dirty="0"/>
              <a:t>(Primary &amp; Secondary)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A4E28-ECFC-B948-AC60-CA7862BC456A}"/>
              </a:ext>
            </a:extLst>
          </p:cNvPr>
          <p:cNvSpPr txBox="1"/>
          <p:nvPr/>
        </p:nvSpPr>
        <p:spPr>
          <a:xfrm>
            <a:off x="1297290" y="5251701"/>
            <a:ext cx="2124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65A662"/>
                </a:solidFill>
              </a:rPr>
              <a:t>FULL LEGAL SEARCHES &amp;</a:t>
            </a:r>
          </a:p>
          <a:p>
            <a:pPr algn="r"/>
            <a:r>
              <a:rPr lang="en-US" sz="1400" dirty="0">
                <a:solidFill>
                  <a:srgbClr val="65A662"/>
                </a:solidFill>
              </a:rPr>
              <a:t>REGULATORY SUBMISSION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3CC49-7A81-CD4B-AA65-E76995C37955}"/>
              </a:ext>
            </a:extLst>
          </p:cNvPr>
          <p:cNvSpPr txBox="1"/>
          <p:nvPr/>
        </p:nvSpPr>
        <p:spPr>
          <a:xfrm>
            <a:off x="0" y="1876232"/>
            <a:ext cx="342178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BSR Project Team </a:t>
            </a:r>
            <a:r>
              <a:rPr lang="en-US" sz="1400" b="1" dirty="0"/>
              <a:t>Meeting #1</a:t>
            </a:r>
          </a:p>
          <a:p>
            <a:pPr algn="r"/>
            <a:r>
              <a:rPr lang="en-US" sz="1400" dirty="0"/>
              <a:t>BI Creative, Computerized, Project Team</a:t>
            </a:r>
          </a:p>
          <a:p>
            <a:pPr algn="r"/>
            <a:r>
              <a:rPr lang="en-US" sz="1000" dirty="0"/>
              <a:t>Working Project Team (Comm, Reg, Legal, Project </a:t>
            </a:r>
            <a:r>
              <a:rPr lang="en-US" sz="1000" dirty="0" err="1"/>
              <a:t>Mgmt</a:t>
            </a:r>
            <a:r>
              <a:rPr lang="en-US" sz="1000" dirty="0"/>
              <a:t>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F60EC-61FD-3B4B-9E93-8C3F5994844E}"/>
              </a:ext>
            </a:extLst>
          </p:cNvPr>
          <p:cNvSpPr txBox="1"/>
          <p:nvPr/>
        </p:nvSpPr>
        <p:spPr>
          <a:xfrm>
            <a:off x="-42284" y="3354962"/>
            <a:ext cx="3464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BrandSearch™ Trademark Screening</a:t>
            </a:r>
          </a:p>
          <a:p>
            <a:pPr algn="r"/>
            <a:r>
              <a:rPr lang="en-US" sz="1000" dirty="0"/>
              <a:t>Comm/Legal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A0704-8519-C94B-A5B9-29A6F7CB5D61}"/>
              </a:ext>
            </a:extLst>
          </p:cNvPr>
          <p:cNvSpPr txBox="1"/>
          <p:nvPr/>
        </p:nvSpPr>
        <p:spPr>
          <a:xfrm>
            <a:off x="-140449" y="3863522"/>
            <a:ext cx="356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BrandMatrix™ Name Prioritization Survey</a:t>
            </a:r>
          </a:p>
          <a:p>
            <a:pPr algn="r"/>
            <a:r>
              <a:rPr lang="en-US" sz="1400" dirty="0"/>
              <a:t>Marketing &amp; Safety Research and Linguistics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CE0AF9-0E27-8841-A85D-74BD7DA07942}"/>
              </a:ext>
            </a:extLst>
          </p:cNvPr>
          <p:cNvSpPr txBox="1"/>
          <p:nvPr/>
        </p:nvSpPr>
        <p:spPr>
          <a:xfrm>
            <a:off x="-228939" y="4553312"/>
            <a:ext cx="36507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Market Research Final Recommendations</a:t>
            </a:r>
          </a:p>
          <a:p>
            <a:pPr algn="r"/>
            <a:r>
              <a:rPr lang="en-US" sz="1400" dirty="0"/>
              <a:t>Project Team </a:t>
            </a:r>
            <a:r>
              <a:rPr lang="en-US" sz="1400" b="1" dirty="0"/>
              <a:t>Meeting #3</a:t>
            </a:r>
          </a:p>
          <a:p>
            <a:pPr algn="r"/>
            <a:r>
              <a:rPr lang="en-US" sz="1000" dirty="0"/>
              <a:t>Working Project Team (Comm, Reg, Legal, Project </a:t>
            </a:r>
            <a:r>
              <a:rPr lang="en-US" sz="1000" dirty="0" err="1"/>
              <a:t>Mgmt</a:t>
            </a:r>
            <a:r>
              <a:rPr lang="en-US" sz="1000" dirty="0"/>
              <a:t>) </a:t>
            </a:r>
          </a:p>
          <a:p>
            <a:pPr algn="r"/>
            <a:endParaRPr lang="en-US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0CD0B-238B-514F-95E1-F8DF9330DE77}"/>
              </a:ext>
            </a:extLst>
          </p:cNvPr>
          <p:cNvSpPr txBox="1"/>
          <p:nvPr/>
        </p:nvSpPr>
        <p:spPr>
          <a:xfrm>
            <a:off x="152599" y="2585840"/>
            <a:ext cx="326918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Nomenclature Workshop</a:t>
            </a:r>
          </a:p>
          <a:p>
            <a:pPr algn="r"/>
            <a:r>
              <a:rPr lang="en-US" sz="1400" dirty="0"/>
              <a:t>Project Team </a:t>
            </a:r>
            <a:r>
              <a:rPr lang="en-US" sz="1400" b="1" dirty="0"/>
              <a:t>Meeting #2</a:t>
            </a:r>
          </a:p>
          <a:p>
            <a:pPr algn="r"/>
            <a:r>
              <a:rPr lang="en-US" sz="1000" dirty="0"/>
              <a:t>Working Project Team (Comm, Reg, Legal, Project </a:t>
            </a:r>
            <a:r>
              <a:rPr lang="en-US" sz="1000" dirty="0" err="1"/>
              <a:t>Mgmt</a:t>
            </a:r>
            <a:r>
              <a:rPr lang="en-US" sz="1000" dirty="0"/>
              <a:t>) </a:t>
            </a:r>
          </a:p>
          <a:p>
            <a:pPr algn="r"/>
            <a:endParaRPr lang="en-US" sz="1400" b="1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382103-7B84-4743-ADA2-588D6B256022}"/>
              </a:ext>
            </a:extLst>
          </p:cNvPr>
          <p:cNvSpPr/>
          <p:nvPr/>
        </p:nvSpPr>
        <p:spPr>
          <a:xfrm>
            <a:off x="3479841" y="2112386"/>
            <a:ext cx="78416" cy="78416"/>
          </a:xfrm>
          <a:prstGeom prst="ellipse">
            <a:avLst/>
          </a:prstGeom>
          <a:solidFill>
            <a:srgbClr val="E36D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E96A5D-49F1-F442-AB9B-F012AEA528DF}"/>
              </a:ext>
            </a:extLst>
          </p:cNvPr>
          <p:cNvSpPr/>
          <p:nvPr/>
        </p:nvSpPr>
        <p:spPr>
          <a:xfrm>
            <a:off x="3445675" y="2078220"/>
            <a:ext cx="146748" cy="1467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F1F27B1-4C90-CE4B-897B-2517CEC4D815}"/>
              </a:ext>
            </a:extLst>
          </p:cNvPr>
          <p:cNvSpPr/>
          <p:nvPr/>
        </p:nvSpPr>
        <p:spPr>
          <a:xfrm>
            <a:off x="3479841" y="2818498"/>
            <a:ext cx="78416" cy="78416"/>
          </a:xfrm>
          <a:prstGeom prst="ellipse">
            <a:avLst/>
          </a:prstGeom>
          <a:solidFill>
            <a:srgbClr val="223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CA264A-9F5E-2E4A-95D1-5C9FDFB8A216}"/>
              </a:ext>
            </a:extLst>
          </p:cNvPr>
          <p:cNvSpPr/>
          <p:nvPr/>
        </p:nvSpPr>
        <p:spPr>
          <a:xfrm>
            <a:off x="3445675" y="2784332"/>
            <a:ext cx="146748" cy="1467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2D5CDB3-3EEC-704E-9EA1-DA30F18C7BEE}"/>
              </a:ext>
            </a:extLst>
          </p:cNvPr>
          <p:cNvSpPr/>
          <p:nvPr/>
        </p:nvSpPr>
        <p:spPr>
          <a:xfrm>
            <a:off x="3479841" y="3482695"/>
            <a:ext cx="78416" cy="78416"/>
          </a:xfrm>
          <a:prstGeom prst="ellipse">
            <a:avLst/>
          </a:prstGeom>
          <a:solidFill>
            <a:srgbClr val="A39A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5BDC47C-7F81-D949-A18D-388534DE4C97}"/>
              </a:ext>
            </a:extLst>
          </p:cNvPr>
          <p:cNvSpPr/>
          <p:nvPr/>
        </p:nvSpPr>
        <p:spPr>
          <a:xfrm>
            <a:off x="3445675" y="3448529"/>
            <a:ext cx="146748" cy="1467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86E72B-D0C1-6141-8932-49810DF54B1E}"/>
              </a:ext>
            </a:extLst>
          </p:cNvPr>
          <p:cNvSpPr/>
          <p:nvPr/>
        </p:nvSpPr>
        <p:spPr>
          <a:xfrm>
            <a:off x="3479841" y="4099751"/>
            <a:ext cx="78416" cy="78416"/>
          </a:xfrm>
          <a:prstGeom prst="ellipse">
            <a:avLst/>
          </a:prstGeom>
          <a:solidFill>
            <a:srgbClr val="A4AC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4837E4-F0F7-2D4A-861F-9DD22012E1F6}"/>
              </a:ext>
            </a:extLst>
          </p:cNvPr>
          <p:cNvSpPr/>
          <p:nvPr/>
        </p:nvSpPr>
        <p:spPr>
          <a:xfrm>
            <a:off x="3445675" y="4065585"/>
            <a:ext cx="146748" cy="1467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39069E0-D0AF-BA40-B9B7-F7012AAD578A}"/>
              </a:ext>
            </a:extLst>
          </p:cNvPr>
          <p:cNvSpPr/>
          <p:nvPr/>
        </p:nvSpPr>
        <p:spPr>
          <a:xfrm>
            <a:off x="3479841" y="4806242"/>
            <a:ext cx="78416" cy="784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22AB308-AD8D-DE4D-819F-61C90FC3FEF2}"/>
              </a:ext>
            </a:extLst>
          </p:cNvPr>
          <p:cNvSpPr/>
          <p:nvPr/>
        </p:nvSpPr>
        <p:spPr>
          <a:xfrm>
            <a:off x="3445675" y="4772076"/>
            <a:ext cx="146748" cy="1467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8E2C81-7C4E-1D42-BF85-CE1F749F5F22}"/>
              </a:ext>
            </a:extLst>
          </p:cNvPr>
          <p:cNvSpPr/>
          <p:nvPr/>
        </p:nvSpPr>
        <p:spPr>
          <a:xfrm rot="1392170">
            <a:off x="3805295" y="1093344"/>
            <a:ext cx="804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E36D24"/>
                </a:solidFill>
              </a:rPr>
              <a:t>NAMES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DBF388-479B-FB4C-911E-CF489AD94E35}"/>
              </a:ext>
            </a:extLst>
          </p:cNvPr>
          <p:cNvSpPr/>
          <p:nvPr/>
        </p:nvSpPr>
        <p:spPr>
          <a:xfrm rot="20141617">
            <a:off x="6353297" y="1099124"/>
            <a:ext cx="804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E36D24"/>
                </a:solidFill>
              </a:rPr>
              <a:t>NAMES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8156299-9589-E346-8C92-4B84589EF28C}"/>
              </a:ext>
            </a:extLst>
          </p:cNvPr>
          <p:cNvSpPr/>
          <p:nvPr/>
        </p:nvSpPr>
        <p:spPr>
          <a:xfrm>
            <a:off x="3479841" y="5419263"/>
            <a:ext cx="78416" cy="78416"/>
          </a:xfrm>
          <a:prstGeom prst="ellipse">
            <a:avLst/>
          </a:prstGeom>
          <a:solidFill>
            <a:srgbClr val="65A6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2FECFBE-AB44-B345-9E81-0B80045DD3A0}"/>
              </a:ext>
            </a:extLst>
          </p:cNvPr>
          <p:cNvSpPr/>
          <p:nvPr/>
        </p:nvSpPr>
        <p:spPr>
          <a:xfrm>
            <a:off x="3445675" y="5385097"/>
            <a:ext cx="146748" cy="14674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49680FA-851B-8645-BE1B-91A091152A0A}"/>
              </a:ext>
            </a:extLst>
          </p:cNvPr>
          <p:cNvCxnSpPr>
            <a:cxnSpLocks/>
          </p:cNvCxnSpPr>
          <p:nvPr/>
        </p:nvCxnSpPr>
        <p:spPr>
          <a:xfrm>
            <a:off x="7238999" y="2189232"/>
            <a:ext cx="13762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758228D-CCAC-C446-AAFD-F149ED0E3D23}"/>
              </a:ext>
            </a:extLst>
          </p:cNvPr>
          <p:cNvCxnSpPr>
            <a:cxnSpLocks/>
          </p:cNvCxnSpPr>
          <p:nvPr/>
        </p:nvCxnSpPr>
        <p:spPr>
          <a:xfrm>
            <a:off x="7123143" y="2927425"/>
            <a:ext cx="206439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A2FCE2C-9A09-324F-8DF8-5421E0EDB9F6}"/>
              </a:ext>
            </a:extLst>
          </p:cNvPr>
          <p:cNvCxnSpPr>
            <a:cxnSpLocks/>
          </p:cNvCxnSpPr>
          <p:nvPr/>
        </p:nvCxnSpPr>
        <p:spPr>
          <a:xfrm>
            <a:off x="6881085" y="3645999"/>
            <a:ext cx="45049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4E0EF28-49AE-BA47-923E-603A4BAF15A7}"/>
              </a:ext>
            </a:extLst>
          </p:cNvPr>
          <p:cNvCxnSpPr>
            <a:cxnSpLocks/>
          </p:cNvCxnSpPr>
          <p:nvPr/>
        </p:nvCxnSpPr>
        <p:spPr>
          <a:xfrm>
            <a:off x="6714361" y="4376439"/>
            <a:ext cx="59817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D8C163B-24C1-2F47-ABFB-1C2E8E9EA35D}"/>
              </a:ext>
            </a:extLst>
          </p:cNvPr>
          <p:cNvCxnSpPr>
            <a:cxnSpLocks/>
          </p:cNvCxnSpPr>
          <p:nvPr/>
        </p:nvCxnSpPr>
        <p:spPr>
          <a:xfrm flipV="1">
            <a:off x="6522500" y="4978496"/>
            <a:ext cx="713635" cy="457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55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60582-089B-461A-A213-F80386BBC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07E36"/>
                </a:solidFill>
                <a:cs typeface="Arial" panose="020B0604020202020204" pitchFamily="34" charset="0"/>
              </a:rPr>
              <a:t>Explore</a:t>
            </a:r>
          </a:p>
          <a:p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Start with ATRA-</a:t>
            </a:r>
            <a:endParaRPr lang="en-US" dirty="0">
              <a:solidFill>
                <a:srgbClr val="000000"/>
              </a:solidFill>
              <a:latin typeface="Calibri" panose="020F0502020204030204"/>
            </a:endParaRPr>
          </a:p>
          <a:p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Atrasentan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Kidney related:</a:t>
            </a: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Kid/Kyd, Neph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A- prefix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/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PRO: Proactive, protect, proteinuria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Anti-inflammation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Anti-fibrotic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Preserve/Protect Kidney function</a:t>
            </a:r>
          </a:p>
          <a:p>
            <a:pPr marL="228600" marR="0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Proactive approach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T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aking charge of your health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Prevent End Stage Kidney Disease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ETA/ERA - endothelin A receptor inhibitor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Direct effect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EGFR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6D22F011-E907-431E-A168-43F3C2E0B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Topline Creative Direction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60582-089B-461A-A213-F80386BBC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C83636"/>
                </a:solidFill>
                <a:cs typeface="Arial" panose="020B0604020202020204" pitchFamily="34" charset="0"/>
              </a:rPr>
              <a:t>Avoid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Calibri" panose="020F0502020204030204" pitchFamily="34" charset="0"/>
                <a:ea typeface="Times New Roman" panose="02020603050405020304" pitchFamily="18" charset="0"/>
              </a:rPr>
              <a:t>Filspari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Starting with T-, TRA-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Relation to TARPEYO (Nefecon) and competitors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Travere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Sparsentan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Chinook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War/weapon/military references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Indication (IgAN)</a:t>
            </a:r>
            <a:endParaRPr lang="en-US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6D22F011-E907-431E-A168-43F3C2E0B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Topline Creative Direction</a:t>
            </a:r>
          </a:p>
        </p:txBody>
      </p:sp>
    </p:spTree>
    <p:extLst>
      <p:ext uri="{BB962C8B-B14F-4D97-AF65-F5344CB8AC3E}">
        <p14:creationId xmlns:p14="http://schemas.microsoft.com/office/powerpoint/2010/main" val="3999919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60582-089B-461A-A213-F80386BBC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C83636"/>
                </a:solidFill>
                <a:cs typeface="Arial" panose="020B0604020202020204" pitchFamily="34" charset="0"/>
              </a:rPr>
              <a:t>ATRA- in the name or as a prefix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Using ATRA in the name with all four letters means we need to have at least an 8-letter name in order to have approval in the EMA</a:t>
            </a:r>
          </a:p>
          <a:p>
            <a:pPr lvl="1"/>
            <a:r>
              <a:rPr lang="en-US" sz="1800" dirty="0"/>
              <a:t>Less than 50% of INN can be used to create a brand name, and less than 50% of the brand name can correspond to the INN – both visual/verbal similarity</a:t>
            </a:r>
          </a:p>
          <a:p>
            <a:pPr lvl="1"/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In addition, there are several approved drug names causing conflicts for the names to fail POCA (the pass/fail algorithm FDA/EMA use).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228600" marR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 can still explore ATRA- if the name is a minimum of 8 letters or used in the infix or suffix position.  Or potentially ATR as a prefix alternative.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6D22F011-E907-431E-A168-43F3C2E0B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ATRA Naming Direction</a:t>
            </a:r>
          </a:p>
        </p:txBody>
      </p:sp>
    </p:spTree>
    <p:extLst>
      <p:ext uri="{BB962C8B-B14F-4D97-AF65-F5344CB8AC3E}">
        <p14:creationId xmlns:p14="http://schemas.microsoft.com/office/powerpoint/2010/main" val="3585530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36E53E-7480-D318-3A2D-6C50E82A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ATRA Conflicts Snapshot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4C6685-AB4E-3D98-9DB5-D1C03ABD6393}"/>
              </a:ext>
            </a:extLst>
          </p:cNvPr>
          <p:cNvGraphicFramePr>
            <a:graphicFrameLocks noGrp="1"/>
          </p:cNvGraphicFramePr>
          <p:nvPr/>
        </p:nvGraphicFramePr>
        <p:xfrm>
          <a:off x="112542" y="1127127"/>
          <a:ext cx="8848576" cy="5473407"/>
        </p:xfrm>
        <a:graphic>
          <a:graphicData uri="http://schemas.openxmlformats.org/drawingml/2006/table">
            <a:tbl>
              <a:tblPr firstRow="1" firstCol="1" bandRow="1"/>
              <a:tblGrid>
                <a:gridCol w="553036">
                  <a:extLst>
                    <a:ext uri="{9D8B030D-6E8A-4147-A177-3AD203B41FA5}">
                      <a16:colId xmlns:a16="http://schemas.microsoft.com/office/drawing/2014/main" val="3279890508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2654141379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2623624880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3675671926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1197099525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1006169225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2598934905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3651232837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1648417512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2006330071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2923863150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3000564054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1659660964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4052447989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3383940784"/>
                    </a:ext>
                  </a:extLst>
                </a:gridCol>
                <a:gridCol w="553036">
                  <a:extLst>
                    <a:ext uri="{9D8B030D-6E8A-4147-A177-3AD203B41FA5}">
                      <a16:colId xmlns:a16="http://schemas.microsoft.com/office/drawing/2014/main" val="731893504"/>
                    </a:ext>
                  </a:extLst>
                </a:gridCol>
              </a:tblGrid>
              <a:tr h="896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KYD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LIA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LIAN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LLA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NEPH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TECT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VAR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VARTA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VAS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VESS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VI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VIV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VYA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ZEP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ZYN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050928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ATROFED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AREDIA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ACCLEAN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ABSTRAL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ARANESP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ACCUPRO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ACUTECT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ABLAVAR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ALTAVERA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ABREVA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ALTAVERA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ACNEVIR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ABREVA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AFRAZINE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535369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ATROMID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ARTRACIN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ADRENALIN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ADDERALL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ASTRAMORPH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ASTEPRO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ATROFED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ABREVA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ALTAVERA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ALTAVERA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ACANYA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ATROFED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AFREZZA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877894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ATROMID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ATELVIA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AFTERPLAN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ATROSEPT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ATROSEPT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ALAVERT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TRAVATAN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ATARAX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ARTRACIN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AFREZZA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ATROGEN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ALTRESYN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6764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ACTRAPID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AGRYLIN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ALTAVERA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ATIVAN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INTRAROSA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ATROMID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ATNATIV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ATROMID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ARTRACIN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341296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ANTHRALIN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ATRIPLA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TRANMEP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ATRIPLA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ESTRATEST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TRAVATAN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TRAVASE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574802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ATRIPLA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APROLIUM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SAVELLA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ARANESP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TRIATEX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ATIVAN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ATORVASA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ATROGEN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TRIVASE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UPTRAVI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ATROGEN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ATRIPLA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ATROSEPT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ATROGEN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087001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TURALIO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ARALEN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ATRIANCE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ATECTURA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ATORVASTA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ATROMID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ABREVA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ATROMID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118892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ADTRALZA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ARTRACIN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ABSTRAL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AVAPRO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ATROGEN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ATROFORT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INTRAROSA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ARTRIVA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ADTRALZA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ATORZEM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ATRYN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57468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AQUALIA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ACTROL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APRANAX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ATRIPLA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PROTECT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ATRONATE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OCREVUS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TRAVASE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ATROMID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ANIZYN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105702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ATROGEN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ADDERALL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ARANESP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TRIATEC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TRAVASE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ALPRESS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OTRIVIN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ARTRIVA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ATROZOL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CTIN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802906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AREDIA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ADTRALZA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ATRIANCE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AVAPRO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ADRIACEPT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ABLAVAR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ATROVITA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TRIVASE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ASTRALIS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UPTRAVI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TETRAVIV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ATRIPLA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AZEP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73012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ASTRAL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ATRONASE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ARATRO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ARTROTEC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ABREVA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ABREVA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TRIAVIL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TRAZER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ATRICAN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824229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ATRIPLA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AURALGAN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ARTROL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ATRONATE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ARGOPRO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ASS PROTECT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ARTRIVA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ATORVASA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ARITAVI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ARTRIVA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ARIDYA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926188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AURELIA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TRINALIN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ARTRYL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ARTEPRO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CTIN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ARTRIVA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ATARAX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ATRONASE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AROVI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ATROMID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ATREMIA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ATROSAN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298931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ABRILIA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ADRENALIN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ASTRAL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ASAPRO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ATROFORT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ATIVAN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ATIVAN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976496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ADTRALZA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AFRICAN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ATRIPLA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ASKA 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ATRONATE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ATRIANCE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ATROVITA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OTRIVIN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ATROVITA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631699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AMILIA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AGRYLIN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X</a:t>
                      </a: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OCREVUS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TRIAVIL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838509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ANTILIA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ARALEN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ABELLA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ASTEPRO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ETRILECT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TRAVASE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ATROVITA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076854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ARALIS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ADTRALZA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HEPATECT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ARTRODAR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ADIVAS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SASTRAVI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359573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ARILIAR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ARILLA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INTRATECT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ARAVA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UPTRAVI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118982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ARTERIA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AURALGAN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ARMILLA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ITRABEST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AREMAS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ATROVITA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214762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ASTRALIS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CANADIAN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ARTILLA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TRIATEC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ATOVER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ASTRALIS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PRAVIN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094474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LIDON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TRINALIN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ASTRALIS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DUTRAPRO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VARITECT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ATROSAN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ATIVAN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94987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ABRILIA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LIDON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PARAPRO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ATORASAT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263560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LXITINA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ABROBION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003008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ATREMIA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ADRENALIN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ATROALDO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994619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ATROCELA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AERALIN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ATROCELA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85969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ATRODIL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AGRELAN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ATROLAK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ATORVASA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703656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ATROLAK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AMPRILAN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ATORVASTA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769874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ATROVITA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ANALIPIN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ATRONASE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006541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AZALIA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ANSILAN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ATROSAN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328694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DIARALIA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ANTROLIN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ATROST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676884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DITRALIA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APREGALIN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ATROVENT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772419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TALIA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ARCALION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ATROVITA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195856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ARILIN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ULTRAVAS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420948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ASTRALIS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973510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ATALINE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388800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ATARALGIN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398520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ATENOLAN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974895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ATORVALAN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510830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CTIN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28070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LIDON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229332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1387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ATRA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LXITINA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94877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ATRICAN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237400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ATROPIN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866945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ATROSAN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87935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TRALINAN</a:t>
                      </a:r>
                      <a:endParaRPr lang="en-US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875343"/>
                  </a:ext>
                </a:extLst>
              </a:tr>
              <a:tr h="896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7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2008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84C96A-EE43-2BB1-4076-5A11307EAB6E}"/>
              </a:ext>
            </a:extLst>
          </p:cNvPr>
          <p:cNvSpPr txBox="1"/>
          <p:nvPr/>
        </p:nvSpPr>
        <p:spPr>
          <a:xfrm>
            <a:off x="7096794" y="5730873"/>
            <a:ext cx="1681871" cy="24622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1000" dirty="0"/>
              <a:t>Meets </a:t>
            </a:r>
            <a:r>
              <a:rPr lang="en-US" sz="1000" b="1" dirty="0"/>
              <a:t>50% INN </a:t>
            </a:r>
            <a:r>
              <a:rPr lang="en-US" sz="1000" dirty="0"/>
              <a:t>EMA Criteria</a:t>
            </a:r>
          </a:p>
        </p:txBody>
      </p:sp>
    </p:spTree>
    <p:extLst>
      <p:ext uri="{BB962C8B-B14F-4D97-AF65-F5344CB8AC3E}">
        <p14:creationId xmlns:p14="http://schemas.microsoft.com/office/powerpoint/2010/main" val="136600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19FE-4549-4081-AFF3-B3481259E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The following names have been pre-screened for registered identical trademarks in the US Federal, EUTM, WIPO &amp; Canada, and InterNIC registries.</a:t>
            </a:r>
          </a:p>
          <a:p>
            <a:pPr marL="0" indent="0" eaLnBrk="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None/>
              <a:tabLst>
                <a:tab pos="3657600" algn="l"/>
                <a:tab pos="6858000" algn="r"/>
              </a:tabLst>
              <a:defRPr/>
            </a:pPr>
            <a:br>
              <a:rPr 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These name candidates appear free of prior registrations for identical marks in identical services and products included in classes 5 and 10. This </a:t>
            </a:r>
            <a:r>
              <a:rPr lang="en-US" u="sng" dirty="0">
                <a:solidFill>
                  <a:srgbClr val="000000"/>
                </a:solidFill>
                <a:cs typeface="Times New Roman" pitchFamily="18" charset="0"/>
              </a:rPr>
              <a:t>does not</a:t>
            </a: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 constitute Brand Institute’s BrandSearch™ Intelligent Search (IQ).</a:t>
            </a:r>
          </a:p>
          <a:p>
            <a:pPr marL="0" indent="0" eaLnBrk="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None/>
              <a:tabLst>
                <a:tab pos="3657600" algn="l"/>
                <a:tab pos="6858000" algn="r"/>
              </a:tabLst>
              <a:defRPr/>
            </a:pP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endParaRPr lang="en-US" u="sng" dirty="0">
              <a:solidFill>
                <a:srgbClr val="000000"/>
              </a:solidFill>
              <a:cs typeface="Times New Roman" pitchFamily="18" charset="0"/>
            </a:endParaRP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u="sng" dirty="0">
                <a:solidFill>
                  <a:srgbClr val="000000"/>
                </a:solidFill>
                <a:cs typeface="Times New Roman" pitchFamily="18" charset="0"/>
              </a:rPr>
              <a:t>Please Note:</a:t>
            </a: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(P) Denotes possible promotional elements (further investigation required)</a:t>
            </a: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(T) Denotes identical trademark registration</a:t>
            </a: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(U/I) Denotes USAN/INN stem</a:t>
            </a: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(C) Denotes .com registration</a:t>
            </a: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dirty="0">
                <a:solidFill>
                  <a:srgbClr val="000000"/>
                </a:solidFill>
                <a:cs typeface="Times New Roman" pitchFamily="18" charset="0"/>
              </a:rPr>
              <a:t>(CB) Denotes ‘built-out’ .com website*</a:t>
            </a: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1588" lvl="0" indent="-1588">
              <a:buClr>
                <a:srgbClr val="000000"/>
              </a:buClr>
              <a:buSzPct val="75000"/>
              <a:buNone/>
              <a:tabLst>
                <a:tab pos="3657600" algn="l"/>
                <a:tab pos="6858000" algn="r"/>
              </a:tabLst>
              <a:defRPr/>
            </a:pPr>
            <a:r>
              <a:rPr lang="en-US" sz="1200" dirty="0">
                <a:solidFill>
                  <a:prstClr val="black"/>
                </a:solidFill>
              </a:rPr>
              <a:t>*The term "built-out" means that an actual website exists at this address and is not merely registered. Registered domain names are typically more obtainable than "built-out" websites.</a:t>
            </a:r>
            <a:endParaRPr lang="en-US" sz="1200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 eaLnBrk="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None/>
              <a:tabLst>
                <a:tab pos="3657600" algn="l"/>
                <a:tab pos="6858000" algn="r"/>
              </a:tabLst>
              <a:defRPr/>
            </a:pPr>
            <a:endParaRPr lang="en-US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 eaLnBrk="0" fontAlgn="auto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Wingdings" panose="05000000000000000000" pitchFamily="2" charset="2"/>
              <a:buNone/>
              <a:tabLst>
                <a:tab pos="3657600" algn="l"/>
                <a:tab pos="6858000" algn="r"/>
              </a:tabLst>
              <a:defRPr/>
            </a:pPr>
            <a:endParaRPr lang="en-US" sz="16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33794" name="Title 1">
            <a:extLst>
              <a:ext uri="{FF2B5EF4-FFF2-40B4-BE49-F238E27FC236}">
                <a16:creationId xmlns:a16="http://schemas.microsoft.com/office/drawing/2014/main" id="{3300BD05-375B-4931-9E77-A4A7A3E93C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Name Candidate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C0DBB53-EED6-3DEC-3220-9F15F467A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78" y="4653657"/>
            <a:ext cx="1568054" cy="1416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38D079-11EB-5B34-EF1D-50D4CFAB7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03" y="2785348"/>
            <a:ext cx="1627982" cy="1603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F6DA87-B844-0F5F-3D0A-E5A5120AA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45" y="1032236"/>
            <a:ext cx="1595360" cy="1480105"/>
          </a:xfrm>
          <a:prstGeom prst="rect">
            <a:avLst/>
          </a:prstGeom>
        </p:spPr>
      </p:pic>
      <p:sp>
        <p:nvSpPr>
          <p:cNvPr id="34819" name="Rectangle 2">
            <a:extLst>
              <a:ext uri="{FF2B5EF4-FFF2-40B4-BE49-F238E27FC236}">
                <a16:creationId xmlns:a16="http://schemas.microsoft.com/office/drawing/2014/main" id="{507B1CE3-1829-407E-AA5B-DCAA65D56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It’s Time to Review and Create!</a:t>
            </a:r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D374A480-FE44-44BA-A877-39070005F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511066"/>
            <a:ext cx="6096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91440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cs typeface="Arial" panose="020B0604020202020204" pitchFamily="34" charset="0"/>
              </a:rPr>
              <a:t>Step 2</a:t>
            </a:r>
            <a:r>
              <a:rPr lang="en-US" dirty="0">
                <a:solidFill>
                  <a:srgbClr val="000000"/>
                </a:solidFill>
                <a:cs typeface="Arial" panose="020B0604020202020204" pitchFamily="34" charset="0"/>
              </a:rPr>
              <a:t>. 	Identify roots that are off target and eliminate 	inappropriate names</a:t>
            </a:r>
          </a:p>
        </p:txBody>
      </p:sp>
      <p:sp>
        <p:nvSpPr>
          <p:cNvPr id="20" name="Rectangle 26">
            <a:extLst>
              <a:ext uri="{FF2B5EF4-FFF2-40B4-BE49-F238E27FC236}">
                <a16:creationId xmlns:a16="http://schemas.microsoft.com/office/drawing/2014/main" id="{402DBF23-D3AE-44CF-AFB2-FD1622C23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311848"/>
            <a:ext cx="63293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Step 1</a:t>
            </a:r>
            <a:r>
              <a:rPr lang="en-US" altLang="en-US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. 	Read the name, consider the rationale, and keep names </a:t>
            </a:r>
            <a:br>
              <a:rPr lang="en-US" altLang="en-US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	that are on target.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	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	Target retainment number: at least 50 for Trademarks!</a:t>
            </a: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24C16661-AA09-424E-9491-C972D30EA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156069"/>
            <a:ext cx="63293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9144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Step 3</a:t>
            </a:r>
            <a:r>
              <a:rPr lang="en-US" altLang="en-US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. 	Create new names based on preferred roots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	Project Team creates 2-3 new names per 	Neutral/Negative candidate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ChangeArrowheads="1"/>
          </p:cNvSpPr>
          <p:nvPr/>
        </p:nvSpPr>
        <p:spPr bwMode="auto">
          <a:xfrm>
            <a:off x="3391228" y="6074229"/>
            <a:ext cx="236154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 b="1" dirty="0"/>
              <a:t>Bold indicates Project Team involvement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ED59A5-30E3-46FB-84AD-E67AFE4A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/>
              <a:t>Project Timeline 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A96CB0-E58A-8517-AA6C-7D1F8C5198D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2864" y="1143000"/>
            <a:ext cx="8038272" cy="421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18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403684-B512-C147-BD66-F1606E127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800" i="1" dirty="0"/>
              <a:t>Thank you for your participation!</a:t>
            </a:r>
            <a:br>
              <a:rPr lang="en-US" sz="1800" i="1" dirty="0"/>
            </a:br>
            <a:r>
              <a:rPr lang="en-US" sz="1800" i="1" dirty="0"/>
              <a:t>Your referrals are the best compliment. Should your colleagues have questions or naming needs, please feel free to forward our contact information below:</a:t>
            </a:r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748F1-2A01-55E5-B925-66018F7702F3}"/>
              </a:ext>
            </a:extLst>
          </p:cNvPr>
          <p:cNvSpPr/>
          <p:nvPr/>
        </p:nvSpPr>
        <p:spPr>
          <a:xfrm>
            <a:off x="6920962" y="4871190"/>
            <a:ext cx="17438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713232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March 6,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2023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BB50B-D533-E8FB-9081-57EC606EE264}"/>
              </a:ext>
            </a:extLst>
          </p:cNvPr>
          <p:cNvSpPr txBox="1"/>
          <p:nvPr/>
        </p:nvSpPr>
        <p:spPr>
          <a:xfrm>
            <a:off x="197576" y="4791180"/>
            <a:ext cx="35090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Courtney Kilroy</a:t>
            </a:r>
          </a:p>
          <a:p>
            <a:r>
              <a:rPr lang="en-US" sz="1400" dirty="0"/>
              <a:t>Divisional President – Northern California &amp; Pacific Northwest</a:t>
            </a:r>
          </a:p>
          <a:p>
            <a:r>
              <a:rPr lang="en-US" sz="1400" dirty="0"/>
              <a:t>E-mail: </a:t>
            </a:r>
            <a:r>
              <a:rPr lang="en-US" sz="1400" dirty="0">
                <a:hlinkClick r:id="rId3"/>
              </a:rPr>
              <a:t>ckilroy@brandinstitute.com</a:t>
            </a:r>
            <a:endParaRPr lang="en-US" sz="1400" dirty="0"/>
          </a:p>
          <a:p>
            <a:r>
              <a:rPr lang="en-US" sz="1400" dirty="0"/>
              <a:t>Phone:  (415) 421-3200</a:t>
            </a:r>
          </a:p>
          <a:p>
            <a:r>
              <a:rPr lang="en-US" sz="1400" dirty="0"/>
              <a:t>611 Gateway Blvd Suite 200</a:t>
            </a:r>
          </a:p>
          <a:p>
            <a:r>
              <a:rPr lang="en-US" sz="1400" dirty="0"/>
              <a:t>South San Francisco, CA 94080</a:t>
            </a:r>
          </a:p>
          <a:p>
            <a:r>
              <a:rPr lang="en-US" sz="1400" dirty="0"/>
              <a:t>USA</a:t>
            </a:r>
          </a:p>
        </p:txBody>
      </p:sp>
    </p:spTree>
    <p:extLst>
      <p:ext uri="{BB962C8B-B14F-4D97-AF65-F5344CB8AC3E}">
        <p14:creationId xmlns:p14="http://schemas.microsoft.com/office/powerpoint/2010/main" val="1839120249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BI-TEMPLATE</Template>
  <TotalTime>16817</TotalTime>
  <Words>1232</Words>
  <Application>Microsoft Office PowerPoint</Application>
  <PresentationFormat>On-screen Show (4:3)</PresentationFormat>
  <Paragraphs>499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Times New Roman</vt:lpstr>
      <vt:lpstr>Wingdings</vt:lpstr>
      <vt:lpstr>3_Office Theme</vt:lpstr>
      <vt:lpstr>NOMENCLATURE WORKSHOP</vt:lpstr>
      <vt:lpstr>Table of Contents</vt:lpstr>
      <vt:lpstr>Introduction</vt:lpstr>
      <vt:lpstr>Meeting Objectives</vt:lpstr>
      <vt:lpstr>Name Development Process | Overall Process Summary</vt:lpstr>
      <vt:lpstr>Topline Creative Direction</vt:lpstr>
      <vt:lpstr>Topline Creative Direction</vt:lpstr>
      <vt:lpstr>ATRA Naming Direction</vt:lpstr>
      <vt:lpstr>ATRA Conflicts Snapshot</vt:lpstr>
      <vt:lpstr>Name Candidate Evaluation</vt:lpstr>
      <vt:lpstr>It’s Time to Review and Create!</vt:lpstr>
      <vt:lpstr>Project Timeline </vt:lpstr>
      <vt:lpstr>Thank you for your participation! Your referrals are the best compliment. Should your colleagues have questions or naming needs, please feel free to forward our contact information below: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Amauris Diaz</dc:creator>
  <cp:lastModifiedBy>Kristina Faraj</cp:lastModifiedBy>
  <cp:revision>411</cp:revision>
  <dcterms:created xsi:type="dcterms:W3CDTF">2019-01-03T14:46:44Z</dcterms:created>
  <dcterms:modified xsi:type="dcterms:W3CDTF">2023-03-03T21:23:56Z</dcterms:modified>
</cp:coreProperties>
</file>