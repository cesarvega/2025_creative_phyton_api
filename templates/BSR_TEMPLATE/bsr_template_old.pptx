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290" r:id="rId2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7E"/>
    <a:srgbClr val="000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92" d="100"/>
          <a:sy n="92" d="100"/>
        </p:scale>
        <p:origin x="136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6729651-2E6F-40B9-906E-0E947AFD0739}" type="datetimeFigureOut">
              <a:rPr lang="en-US"/>
              <a:pPr>
                <a:defRPr/>
              </a:pPr>
              <a:t>10/10/2016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C06C4CE-27B0-4462-8830-055FB502C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21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BB90BA-55DA-4C15-961A-D8C649D957CC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452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23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4479925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buFont typeface="Wingdings" pitchFamily="2" charset="2"/>
              <a:buChar char="§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>
              <a:buClr>
                <a:schemeClr val="tx2"/>
              </a:buClr>
              <a:buFont typeface="Courier New" pitchFamily="49" charset="0"/>
              <a:buChar char="o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2pPr>
            <a:lvl3pPr>
              <a:buClr>
                <a:schemeClr val="tx2"/>
              </a:buClr>
              <a:buFont typeface="Wingdings" pitchFamily="2" charset="2"/>
              <a:buChar char="§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3pPr>
            <a:lvl4pPr>
              <a:buClr>
                <a:schemeClr val="tx2"/>
              </a:buClr>
              <a:buFont typeface="Arial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4pPr>
            <a:lvl5pPr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723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>
              <a:buClr>
                <a:schemeClr val="tx2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2pPr>
            <a:lvl3pPr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3pPr>
            <a:lvl4pPr>
              <a:buClr>
                <a:schemeClr val="tx2"/>
              </a:buClr>
              <a:buFont typeface="Wingdings" pitchFamily="2" charset="2"/>
              <a:buChar char="§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4pPr>
            <a:lvl5pPr>
              <a:buClr>
                <a:schemeClr val="tx2"/>
              </a:buClr>
              <a:buFont typeface="Wingdings" pitchFamily="2" charset="2"/>
              <a:buChar char="§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>
              <a:buClr>
                <a:schemeClr val="tx2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2pPr>
            <a:lvl3pPr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3pPr>
            <a:lvl4pPr>
              <a:buClr>
                <a:schemeClr val="tx2"/>
              </a:buClr>
              <a:buFont typeface="Wingdings" pitchFamily="2" charset="2"/>
              <a:buChar char="§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4pPr>
            <a:lvl5pPr>
              <a:buClr>
                <a:schemeClr val="tx2"/>
              </a:buClr>
              <a:buFont typeface="Wingdings" pitchFamily="2" charset="2"/>
              <a:buChar char="§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674"/>
            <a:ext cx="8229600" cy="71596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4114800" y="6477000"/>
            <a:ext cx="1143000" cy="21590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800" dirty="0" smtClean="0">
                <a:solidFill>
                  <a:srgbClr val="000000"/>
                </a:solidFill>
                <a:latin typeface="Arial Narrow" pitchFamily="34" charset="0"/>
                <a:cs typeface="+mn-cs"/>
              </a:rPr>
              <a:t>Proprietary &amp; Confidential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90600" y="6324600"/>
            <a:ext cx="8153400" cy="533400"/>
          </a:xfrm>
          <a:prstGeom prst="rect">
            <a:avLst/>
          </a:prstGeom>
          <a:gradFill>
            <a:gsLst>
              <a:gs pos="0">
                <a:schemeClr val="tx2"/>
              </a:gs>
              <a:gs pos="50000">
                <a:schemeClr val="tx2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6" name="Picture 2" descr="Brand Institute, Inc.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7636" y="6324600"/>
            <a:ext cx="789139" cy="4572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8624192" y="6452801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4364B33D-2A9C-4398-A227-C3E0D41962E9}" type="slidenum">
              <a:rPr lang="en-US" sz="120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 userDrawn="1"/>
        </p:nvSpPr>
        <p:spPr>
          <a:xfrm>
            <a:off x="8652767" y="6438900"/>
            <a:ext cx="304800" cy="304800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318960" y="6477000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PROPRIETARY</a:t>
            </a:r>
            <a:r>
              <a:rPr lang="en-US" sz="1200" baseline="0" dirty="0" smtClean="0">
                <a:solidFill>
                  <a:schemeClr val="bg1"/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8458200" y="6324600"/>
            <a:ext cx="0" cy="5334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400" kern="1200" spc="-15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MS PGothic" pitchFamily="34" charset="-128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MS PGothic" pitchFamily="34" charset="-128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MS PGothic" pitchFamily="34" charset="-128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MS PGothic" pitchFamily="34" charset="-128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FF8000"/>
        </a:buClr>
        <a:buFont typeface="Wingdings" pitchFamily="2" charset="2"/>
        <a:buChar char="ü"/>
        <a:defRPr kern="1200">
          <a:solidFill>
            <a:srgbClr val="404040"/>
          </a:solidFill>
          <a:latin typeface="Arial Narrow"/>
          <a:ea typeface="MS PGothic" pitchFamily="34" charset="-128"/>
          <a:cs typeface="Arial Narrow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7F7F7F"/>
        </a:buClr>
        <a:buFont typeface="Arial" pitchFamily="34" charset="0"/>
        <a:buChar char="–"/>
        <a:defRPr kern="1200">
          <a:solidFill>
            <a:srgbClr val="404040"/>
          </a:solidFill>
          <a:latin typeface="Arial Narrow"/>
          <a:ea typeface="MS PGothic" pitchFamily="34" charset="-128"/>
          <a:cs typeface="Arial Narrow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FF8000"/>
        </a:buClr>
        <a:buFont typeface="Arial" pitchFamily="34" charset="0"/>
        <a:buChar char="•"/>
        <a:defRPr kern="1200">
          <a:solidFill>
            <a:srgbClr val="404040"/>
          </a:solidFill>
          <a:latin typeface="Arial Narrow"/>
          <a:ea typeface="MS PGothic" pitchFamily="34" charset="-128"/>
          <a:cs typeface="Arial Narrow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A6A6A6"/>
        </a:buClr>
        <a:buFont typeface="Arial" pitchFamily="34" charset="0"/>
        <a:buChar char="–"/>
        <a:defRPr kern="1200">
          <a:solidFill>
            <a:srgbClr val="404040"/>
          </a:solidFill>
          <a:latin typeface="Arial Narrow"/>
          <a:ea typeface="MS PGothic" pitchFamily="34" charset="-128"/>
          <a:cs typeface="Arial Narrow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FF8000"/>
        </a:buClr>
        <a:buFont typeface="Arial" pitchFamily="34" charset="0"/>
        <a:buChar char="»"/>
        <a:defRPr kern="1200">
          <a:solidFill>
            <a:srgbClr val="404040"/>
          </a:solidFill>
          <a:latin typeface="Arial Narrow"/>
          <a:ea typeface="MS PGothic" pitchFamily="34" charset="-128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32385">
            <a:off x="73025" y="1447800"/>
            <a:ext cx="2293938" cy="220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00842">
            <a:off x="2209800" y="1449388"/>
            <a:ext cx="2293938" cy="220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52577">
            <a:off x="152400" y="3814763"/>
            <a:ext cx="2293938" cy="220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08064">
            <a:off x="4495800" y="1449388"/>
            <a:ext cx="2293938" cy="220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4795838" y="1852613"/>
            <a:ext cx="19859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>
                <a:latin typeface="+mj-lt"/>
              </a:rPr>
              <a:t>Indication/Therapeutic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Tennis elbow</a:t>
            </a:r>
            <a:endParaRPr lang="en-US" sz="1200" dirty="0">
              <a:latin typeface="+mj-lt"/>
            </a:endParaRPr>
          </a:p>
          <a:p>
            <a:pPr marL="228600" indent="-228600">
              <a:buFont typeface="Wingdings" pitchFamily="2" charset="2"/>
              <a:buNone/>
              <a:defRPr/>
            </a:pPr>
            <a:endParaRPr lang="en-US" sz="1200" b="1" i="1" dirty="0">
              <a:latin typeface="+mj-lt"/>
            </a:endParaRP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304800" y="1852613"/>
            <a:ext cx="19626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>
                <a:latin typeface="+mj-lt"/>
              </a:rPr>
              <a:t>Attributes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Lubrication and Hydration to affected site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Long durability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Cost effective</a:t>
            </a:r>
            <a:endParaRPr lang="en-US" sz="1200" dirty="0">
              <a:latin typeface="+mj-lt"/>
            </a:endParaRPr>
          </a:p>
        </p:txBody>
      </p:sp>
      <p:sp>
        <p:nvSpPr>
          <p:cNvPr id="19465" name="Rectangle 4"/>
          <p:cNvSpPr>
            <a:spLocks noChangeArrowheads="1"/>
          </p:cNvSpPr>
          <p:nvPr/>
        </p:nvSpPr>
        <p:spPr bwMode="auto">
          <a:xfrm>
            <a:off x="481013" y="4113213"/>
            <a:ext cx="1751012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>
                <a:latin typeface="+mj-lt"/>
              </a:rPr>
              <a:t>Images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Animals?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Music?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Astrology?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Literature Themes?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Nature Themes?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Colors?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>
                <a:latin typeface="+mj-lt"/>
              </a:rPr>
              <a:t>Greek/Roman Gods?</a:t>
            </a:r>
            <a:endParaRPr lang="en-US" sz="1200" b="1" i="1" dirty="0">
              <a:latin typeface="+mj-lt"/>
            </a:endParaRPr>
          </a:p>
        </p:txBody>
      </p:sp>
      <p:pic>
        <p:nvPicPr>
          <p:cNvPr id="2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23953">
            <a:off x="6781800" y="1447800"/>
            <a:ext cx="2293938" cy="220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6" name="Rectangle 4"/>
          <p:cNvSpPr>
            <a:spLocks noChangeArrowheads="1"/>
          </p:cNvSpPr>
          <p:nvPr/>
        </p:nvSpPr>
        <p:spPr bwMode="auto">
          <a:xfrm>
            <a:off x="7118350" y="1852613"/>
            <a:ext cx="15621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>
                <a:latin typeface="+mj-lt"/>
              </a:rPr>
              <a:t>MOA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>
                <a:latin typeface="+mj-lt"/>
              </a:rPr>
              <a:t>Extracellular </a:t>
            </a:r>
            <a:r>
              <a:rPr lang="en-US" sz="1200" dirty="0" smtClean="0">
                <a:latin typeface="+mj-lt"/>
              </a:rPr>
              <a:t>supplementation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Sodium </a:t>
            </a:r>
            <a:r>
              <a:rPr lang="en-US" sz="1200" dirty="0" err="1" smtClean="0">
                <a:latin typeface="+mj-lt"/>
              </a:rPr>
              <a:t>hyaluronate</a:t>
            </a:r>
            <a:endParaRPr lang="en-US" sz="1200" dirty="0">
              <a:latin typeface="+mj-lt"/>
            </a:endParaRPr>
          </a:p>
          <a:p>
            <a:pPr marL="228600" indent="-228600">
              <a:buFont typeface="Wingdings" pitchFamily="2" charset="2"/>
              <a:buNone/>
              <a:defRPr/>
            </a:pPr>
            <a:endParaRPr lang="en-US" sz="1200" b="1" i="1" u="sng" dirty="0">
              <a:latin typeface="+mj-lt"/>
            </a:endParaRPr>
          </a:p>
        </p:txBody>
      </p:sp>
      <p:pic>
        <p:nvPicPr>
          <p:cNvPr id="19467" name="Picture 3" descr="npo000026"/>
          <p:cNvPicPr>
            <a:picLocks noChangeAspect="1" noChangeArrowheads="1"/>
          </p:cNvPicPr>
          <p:nvPr/>
        </p:nvPicPr>
        <p:blipFill>
          <a:blip r:embed="rId3" cstate="print"/>
          <a:srcRect b="15266"/>
          <a:stretch>
            <a:fillRect/>
          </a:stretch>
        </p:blipFill>
        <p:spPr bwMode="auto">
          <a:xfrm rot="226393">
            <a:off x="2430463" y="3811588"/>
            <a:ext cx="2293937" cy="220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8" name="Rectangle 4"/>
          <p:cNvSpPr>
            <a:spLocks noChangeArrowheads="1"/>
          </p:cNvSpPr>
          <p:nvPr/>
        </p:nvSpPr>
        <p:spPr bwMode="auto">
          <a:xfrm>
            <a:off x="2781300" y="4198203"/>
            <a:ext cx="1562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 smtClean="0">
                <a:latin typeface="+mj-lt"/>
              </a:rPr>
              <a:t>Tonality</a:t>
            </a:r>
            <a:endParaRPr lang="en-US" sz="1200" b="1" i="1" u="sng" dirty="0">
              <a:latin typeface="+mj-lt"/>
            </a:endParaRP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 smtClean="0">
                <a:latin typeface="+mj-lt"/>
              </a:rPr>
              <a:t>Male/Female?</a:t>
            </a:r>
            <a:endParaRPr lang="en-US" sz="1200" i="1" dirty="0">
              <a:latin typeface="+mj-lt"/>
            </a:endParaRP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i="1" dirty="0" smtClean="0">
                <a:latin typeface="+mj-lt"/>
              </a:rPr>
              <a:t>Soft/Strong?</a:t>
            </a:r>
            <a:endParaRPr lang="en-US" sz="1200" i="1" dirty="0">
              <a:latin typeface="+mj-lt"/>
            </a:endParaRPr>
          </a:p>
          <a:p>
            <a:pPr marL="228600" indent="-228600">
              <a:buFont typeface="Wingdings" pitchFamily="2" charset="2"/>
              <a:buChar char="ü"/>
              <a:defRPr/>
            </a:pPr>
            <a:endParaRPr lang="en-US" sz="1200" b="1" i="1" dirty="0">
              <a:latin typeface="+mj-lt"/>
            </a:endParaRPr>
          </a:p>
        </p:txBody>
      </p:sp>
      <p:sp>
        <p:nvSpPr>
          <p:cNvPr id="194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i="0" smtClean="0"/>
              <a:t>It’s Time to Brandstorm!</a:t>
            </a:r>
          </a:p>
        </p:txBody>
      </p:sp>
      <p:sp>
        <p:nvSpPr>
          <p:cNvPr id="15" name="Rectangle 5"/>
          <p:cNvSpPr txBox="1">
            <a:spLocks noChangeArrowheads="1"/>
          </p:cNvSpPr>
          <p:nvPr/>
        </p:nvSpPr>
        <p:spPr bwMode="auto">
          <a:xfrm>
            <a:off x="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ct val="20000"/>
              </a:spcBef>
              <a:buClr>
                <a:srgbClr val="003399"/>
              </a:buClr>
              <a:defRPr/>
            </a:pPr>
            <a:r>
              <a:rPr lang="en-US" sz="1800" kern="0" dirty="0">
                <a:latin typeface="+mj-lt"/>
              </a:rPr>
              <a:t>Step 1. </a:t>
            </a:r>
            <a:r>
              <a:rPr lang="en-US" sz="1800" b="1" kern="0" dirty="0">
                <a:latin typeface="+mj-lt"/>
              </a:rPr>
              <a:t>Identify</a:t>
            </a:r>
            <a:r>
              <a:rPr lang="en-US" sz="1800" kern="0" dirty="0">
                <a:latin typeface="+mj-lt"/>
              </a:rPr>
              <a:t> attributes, benefits and root words – Step 2. </a:t>
            </a:r>
            <a:r>
              <a:rPr lang="en-US" sz="1800" b="1" kern="0" dirty="0">
                <a:latin typeface="+mj-lt"/>
              </a:rPr>
              <a:t>Prioritize</a:t>
            </a:r>
            <a:r>
              <a:rPr lang="en-US" sz="1800" kern="0" dirty="0">
                <a:latin typeface="+mj-lt"/>
              </a:rPr>
              <a:t> – Step 3. </a:t>
            </a:r>
            <a:r>
              <a:rPr lang="en-US" sz="1800" b="1" kern="0" dirty="0">
                <a:latin typeface="+mj-lt"/>
              </a:rPr>
              <a:t>Create!</a:t>
            </a:r>
          </a:p>
        </p:txBody>
      </p:sp>
      <p:sp>
        <p:nvSpPr>
          <p:cNvPr id="19471" name="Rectangle 4"/>
          <p:cNvSpPr>
            <a:spLocks noChangeArrowheads="1"/>
          </p:cNvSpPr>
          <p:nvPr/>
        </p:nvSpPr>
        <p:spPr bwMode="auto">
          <a:xfrm>
            <a:off x="2555874" y="1852613"/>
            <a:ext cx="163036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None/>
              <a:defRPr/>
            </a:pPr>
            <a:r>
              <a:rPr lang="en-US" sz="1200" b="1" i="1" u="sng" dirty="0">
                <a:latin typeface="+mj-lt"/>
              </a:rPr>
              <a:t>Benefits</a:t>
            </a: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Relieve pain</a:t>
            </a:r>
            <a:endParaRPr lang="en-US" sz="1200" dirty="0">
              <a:latin typeface="+mj-lt"/>
            </a:endParaRP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Optimize recovery</a:t>
            </a:r>
            <a:endParaRPr lang="en-US" sz="1200" dirty="0">
              <a:latin typeface="+mj-lt"/>
            </a:endParaRPr>
          </a:p>
          <a:p>
            <a:pPr marL="115888" indent="-115888">
              <a:buSzPct val="75000"/>
              <a:buFont typeface="Wingdings" pitchFamily="2" charset="2"/>
              <a:buChar char="ü"/>
              <a:defRPr/>
            </a:pPr>
            <a:r>
              <a:rPr lang="en-US" sz="1200" dirty="0" smtClean="0">
                <a:latin typeface="+mj-lt"/>
              </a:rPr>
              <a:t>Low risk of adverse events</a:t>
            </a:r>
            <a:endParaRPr lang="en-US" sz="1200" dirty="0">
              <a:latin typeface="+mj-lt"/>
            </a:endParaRPr>
          </a:p>
        </p:txBody>
      </p:sp>
      <p:pic>
        <p:nvPicPr>
          <p:cNvPr id="19472" name="Picture 4" descr="home_make_a_name"/>
          <p:cNvPicPr>
            <a:picLocks noChangeAspect="1" noChangeArrowheads="1"/>
          </p:cNvPicPr>
          <p:nvPr/>
        </p:nvPicPr>
        <p:blipFill>
          <a:blip r:embed="rId4" cstate="print"/>
          <a:srcRect b="2039"/>
          <a:stretch>
            <a:fillRect/>
          </a:stretch>
        </p:blipFill>
        <p:spPr bwMode="auto">
          <a:xfrm>
            <a:off x="5410200" y="3886200"/>
            <a:ext cx="3657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873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2b61dbfd7d8f9f744fd55817ae53cdbb11e4efb"/>
  <p:tag name="ISPRING_RESOURCE_PATHS_HASH" val="a13a1cea625e35eb595b22bd03d01ed654e59"/>
</p:tagLst>
</file>

<file path=ppt/theme/theme1.xml><?xml version="1.0" encoding="utf-8"?>
<a:theme xmlns:a="http://schemas.openxmlformats.org/drawingml/2006/main" name="BI-THEME">
  <a:themeElements>
    <a:clrScheme name="BRAND INSTITU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80FF"/>
      </a:accent1>
      <a:accent2>
        <a:srgbClr val="C0504D"/>
      </a:accent2>
      <a:accent3>
        <a:srgbClr val="8000FF"/>
      </a:accent3>
      <a:accent4>
        <a:srgbClr val="004080"/>
      </a:accent4>
      <a:accent5>
        <a:srgbClr val="4BACC6"/>
      </a:accent5>
      <a:accent6>
        <a:srgbClr val="FF8000"/>
      </a:accent6>
      <a:hlink>
        <a:srgbClr val="004080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4124</TotalTime>
  <Words>79</Words>
  <Application>Microsoft Office PowerPoint</Application>
  <PresentationFormat>On-screen Show (4:3)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MS PGothic</vt:lpstr>
      <vt:lpstr>MS PGothic</vt:lpstr>
      <vt:lpstr>Arial</vt:lpstr>
      <vt:lpstr>Arial Narrow</vt:lpstr>
      <vt:lpstr>Calibri</vt:lpstr>
      <vt:lpstr>Cambria</vt:lpstr>
      <vt:lpstr>Courier New</vt:lpstr>
      <vt:lpstr>Wingdings</vt:lpstr>
      <vt:lpstr>BI-THEME</vt:lpstr>
      <vt:lpstr>It’s Time to Brandstorm!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Carlos Acevedo</cp:lastModifiedBy>
  <cp:revision>971</cp:revision>
  <dcterms:created xsi:type="dcterms:W3CDTF">2013-08-08T20:48:04Z</dcterms:created>
  <dcterms:modified xsi:type="dcterms:W3CDTF">2016-10-10T14:14:43Z</dcterms:modified>
</cp:coreProperties>
</file>